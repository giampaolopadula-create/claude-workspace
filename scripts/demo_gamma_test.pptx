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mountain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40080" y="640080"/>
            <a:ext cx="10911535" cy="0"/>
          </a:xfrm>
          <a:prstGeom prst="line">
            <a:avLst/>
          </a:prstGeom>
          <a:ln w="12700">
            <a:solidFill>
              <a:srgbClr val="C9A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217920"/>
            <a:ext cx="10911535" cy="0"/>
          </a:xfrm>
          <a:prstGeom prst="line">
            <a:avLst/>
          </a:prstGeom>
          <a:ln w="12700">
            <a:solidFill>
              <a:srgbClr val="C9A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2148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 spc="250">
                <a:solidFill>
                  <a:srgbClr val="C9A24B"/>
                </a:solidFill>
                <a:latin typeface="Segoe UI Semibold"/>
              </a:rPr>
              <a:t>VALTUR CERVINIA CRISTALLO SKI RESORT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0" i="0">
                <a:solidFill>
                  <a:srgbClr val="F4F1EA"/>
                </a:solidFill>
                <a:latin typeface="Georgia"/>
              </a:rPr>
              <a:t>Posizionamento di mercato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0" i="1">
                <a:solidFill>
                  <a:srgbClr val="F4F1EA"/>
                </a:solidFill>
                <a:latin typeface="Georgia"/>
              </a:rPr>
              <a:t>e leva competitiva 2026/27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4343400"/>
            <a:ext cx="1463040" cy="0"/>
          </a:xfrm>
          <a:prstGeom prst="line">
            <a:avLst/>
          </a:prstGeom>
          <a:ln w="25400">
            <a:solidFill>
              <a:srgbClr val="C9A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45720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A9790"/>
                </a:solidFill>
                <a:latin typeface="Segoe UI Light"/>
              </a:rPr>
              <a:t>Executive Summary  —  Direzione Generale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790"/>
                </a:solidFill>
                <a:latin typeface="Segoe UI Light"/>
              </a:rPr>
              <a:t>Luglio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550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790"/>
                </a:solidFill>
                <a:latin typeface="Segoe UI Light"/>
              </a:rPr>
              <a:t>Documento riservato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200">
                <a:solidFill>
                  <a:srgbClr val="C9A24B"/>
                </a:solidFill>
                <a:latin typeface="Segoe UI Semibold"/>
              </a:rPr>
              <a:t>01 — DATI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7132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41416"/>
                </a:solidFill>
                <a:latin typeface="Georgia"/>
              </a:rPr>
              <a:t>Performance stagione in sintesi</a:t>
            </a:r>
          </a:p>
        </p:txBody>
      </p:sp>
      <p:pic>
        <p:nvPicPr>
          <p:cNvPr id="4" name="Picture 3" descr="lobby.jpg"/>
          <p:cNvPicPr>
            <a:picLocks noChangeAspect="1"/>
          </p:cNvPicPr>
          <p:nvPr/>
        </p:nvPicPr>
        <p:blipFill>
          <a:blip r:embed="rId2"/>
          <a:srcRect t="2886" b="2886"/>
          <a:stretch>
            <a:fillRect/>
          </a:stretch>
        </p:blipFill>
        <p:spPr>
          <a:xfrm>
            <a:off x="8778240" y="502920"/>
            <a:ext cx="2587752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778240" y="502920"/>
            <a:ext cx="2587752" cy="1371600"/>
          </a:xfrm>
          <a:prstGeom prst="rect">
            <a:avLst/>
          </a:prstGeom>
          <a:noFill/>
          <a:ln w="95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737360"/>
            <a:ext cx="1051560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965960"/>
            <a:ext cx="2514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141416"/>
                </a:solidFill>
                <a:latin typeface="Georgia"/>
              </a:rPr>
              <a:t>+7,4%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788920"/>
            <a:ext cx="548640" cy="0"/>
          </a:xfrm>
          <a:prstGeom prst="line">
            <a:avLst/>
          </a:prstGeom>
          <a:ln w="25400">
            <a:solidFill>
              <a:srgbClr val="C9A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971800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9790"/>
                </a:solidFill>
                <a:latin typeface="Segoe UI Light"/>
              </a:rPr>
              <a:t>RevPAR vs stagione precedente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65960"/>
            <a:ext cx="2514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141416"/>
                </a:solidFill>
                <a:latin typeface="Georgia"/>
              </a:rPr>
              <a:t>68,2%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66160" y="2788920"/>
            <a:ext cx="548640" cy="0"/>
          </a:xfrm>
          <a:prstGeom prst="line">
            <a:avLst/>
          </a:prstGeom>
          <a:ln w="25400">
            <a:solidFill>
              <a:srgbClr val="C9A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566160" y="2971800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9790"/>
                </a:solidFill>
                <a:latin typeface="Segoe UI Light"/>
              </a:rPr>
              <a:t>Occupazione media inverno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65960"/>
            <a:ext cx="2514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141416"/>
                </a:solidFill>
                <a:latin typeface="Georgia"/>
              </a:rPr>
              <a:t>41 gg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09360" y="2788920"/>
            <a:ext cx="548640" cy="0"/>
          </a:xfrm>
          <a:prstGeom prst="line">
            <a:avLst/>
          </a:prstGeom>
          <a:ln w="25400">
            <a:solidFill>
              <a:srgbClr val="C9A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2971800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9790"/>
                </a:solidFill>
                <a:latin typeface="Segoe UI Light"/>
              </a:rPr>
              <a:t>Booking window medio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965960"/>
            <a:ext cx="2514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141416"/>
                </a:solidFill>
                <a:latin typeface="Georgia"/>
              </a:rPr>
              <a:t>4,7 / 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52560" y="2788920"/>
            <a:ext cx="548640" cy="0"/>
          </a:xfrm>
          <a:prstGeom prst="line">
            <a:avLst/>
          </a:prstGeom>
          <a:ln w="25400">
            <a:solidFill>
              <a:srgbClr val="C9A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052560" y="2971800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9790"/>
                </a:solidFill>
                <a:latin typeface="Segoe UI Light"/>
              </a:rPr>
              <a:t>Guest satisfaction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1416"/>
                </a:solidFill>
                <a:latin typeface="Segoe UI Semibold"/>
              </a:rPr>
              <a:t>RevPAR per segmento competitivo (indice, illustrativo)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80560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41416"/>
                </a:solidFill>
                <a:latin typeface="Segoe UI Light"/>
              </a:rPr>
              <a:t>Valtur Cervinia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4553712"/>
            <a:ext cx="8229600" cy="25603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0" y="448056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41416"/>
                </a:solidFill>
                <a:latin typeface="Segoe UI Semibold"/>
              </a:rPr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83480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41416"/>
                </a:solidFill>
                <a:latin typeface="Segoe UI Light"/>
              </a:rPr>
              <a:t>Comp. set 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5056632"/>
            <a:ext cx="6748272" cy="25603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8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41416"/>
                </a:solidFill>
                <a:latin typeface="Segoe UI Semibold"/>
              </a:rPr>
              <a:t>82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86400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41416"/>
                </a:solidFill>
                <a:latin typeface="Segoe UI Light"/>
              </a:rPr>
              <a:t>Comp. set 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5559552"/>
            <a:ext cx="6254496" cy="25603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0" y="548640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41416"/>
                </a:solidFill>
                <a:latin typeface="Segoe UI Semibold"/>
              </a:rPr>
              <a:t>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989320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41416"/>
                </a:solidFill>
                <a:latin typeface="Segoe UI Light"/>
              </a:rPr>
              <a:t>Comp. set 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6062472"/>
            <a:ext cx="5266944" cy="25603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0" y="598932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41416"/>
                </a:solidFill>
                <a:latin typeface="Segoe UI Semibold"/>
              </a:rPr>
              <a:t>64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4465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9A9790"/>
                </a:solidFill>
                <a:latin typeface="Segoe UI Light"/>
              </a:rPr>
              <a:t>Fonte: dati illustrativi a scopo dimostrativo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de_mountain.jpg"/>
          <p:cNvPicPr>
            <a:picLocks noChangeAspect="1"/>
          </p:cNvPicPr>
          <p:nvPr/>
        </p:nvPicPr>
        <p:blipFill>
          <a:blip r:embed="rId2"/>
          <a:srcRect l="17201" r="17201"/>
          <a:stretch>
            <a:fillRect/>
          </a:stretch>
        </p:blipFill>
        <p:spPr>
          <a:xfrm>
            <a:off x="8778240" y="0"/>
            <a:ext cx="341345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41416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12700">
            <a:solidFill>
              <a:srgbClr val="C9A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200">
                <a:solidFill>
                  <a:srgbClr val="C9A24B"/>
                </a:solidFill>
                <a:latin typeface="Segoe UI Semibold"/>
              </a:rPr>
              <a:t>02 — LEVE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7589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F4F1EA"/>
                </a:solidFill>
                <a:latin typeface="Georgia"/>
              </a:rPr>
              <a:t>Tre leve per la stagione 2026/27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1600200"/>
            <a:ext cx="7680960" cy="0"/>
          </a:xfrm>
          <a:prstGeom prst="line">
            <a:avLst/>
          </a:prstGeom>
          <a:ln w="12700">
            <a:solidFill>
              <a:srgbClr val="3A38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19659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9A24B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659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4F1EA"/>
                </a:solidFill>
                <a:latin typeface="Segoe UI Semibold"/>
              </a:rPr>
              <a:t>Direct Booking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350008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9790"/>
                </a:solidFill>
                <a:latin typeface="Segoe UI Light"/>
              </a:rPr>
              <a:t>Ridurre la dipendenza dalle OTA rafforzando il canale diretto e il CRM ospiti.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9A24B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3832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4F1EA"/>
                </a:solidFill>
                <a:latin typeface="Segoe UI Semibold"/>
              </a:rPr>
              <a:t>Experience Premium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767328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9790"/>
                </a:solidFill>
                <a:latin typeface="Segoe UI Light"/>
              </a:rPr>
              <a:t>Ampliare l'offerta esperienziale per giustificare l'ADR e allungare la stagione.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9A24B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8006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4F1EA"/>
                </a:solidFill>
                <a:latin typeface="Segoe UI Semibold"/>
              </a:rPr>
              <a:t>Talent &amp; Servizio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184648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9790"/>
                </a:solidFill>
                <a:latin typeface="Segoe UI Light"/>
              </a:rPr>
              <a:t>Investire su formazione e retention dello staff come leva di differenziazione.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263640"/>
            <a:ext cx="7863840" cy="0"/>
          </a:xfrm>
          <a:prstGeom prst="line">
            <a:avLst/>
          </a:prstGeom>
          <a:ln w="12700">
            <a:solidFill>
              <a:srgbClr val="C9A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6400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9790"/>
                </a:solidFill>
                <a:latin typeface="Segoe UI Light"/>
              </a:rPr>
              <a:t>Valtur Cervinia Cristallo Ski Resort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